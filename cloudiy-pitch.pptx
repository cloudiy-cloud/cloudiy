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Cloudiy turns any GPU into compute you can rent over a protocol, paid per job in USDC. The hook: the first GPU network an AI agent can pay on its own, no account and no token.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locked doors: humans wait hours, agents can't rent at all, and spare GPUs have no way in. Cloudiy unlocks all three.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reframe: everyone builds a marketplace app; we build the layer beneath — like HTTP beneath every website.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magic is steps 2-3: a 402 with a USDC quote, pay, escrow, run, signed result releases the money. No invoices, no accounts.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Money slide - slow down. Agent submits, gets 402, pays USDC, retries, gets 5,7,9 from a remote GPU. Tool schema lets any LLM buy compute itself.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the rail (x402) is real, demand (paying agents) is exploding, supply (DePIN) is proven. Cloudiy sits where they meet.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Proof: one Rust binary, P2P with no ports, WGSL on any GPU, signed results, USDC escrow on devnet, three SDKs, CI incl. e2e over real P2P.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Head to head: personal GPUs, agent payments in USDC, no token, 4% vs up to 20%. The fee number is from our own escrow program.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charge 4% on compute that happens. Payments are USDC, so no token - nothing to pump or dump. Funded by prizes, grants and revenue.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 on devnet today. Next: real kernels + provider registry, then ZK proofs. Ask: a grant and a few pilot GPUs past cold start.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Backup: if the network is flaky, play a recording of these five steps. Must-show: 402 -&gt; pay -&gt; result, and the agent calling the tool itself.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770364" y="1586484"/>
            <a:ext cx="1787651" cy="652881"/>
          </a:xfrm>
          <a:prstGeom prst="roundRect">
            <a:avLst/>
          </a:prstGeom>
          <a:solidFill>
            <a:srgbClr val="CCF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723729" y="1384401"/>
            <a:ext cx="854964" cy="854964"/>
          </a:xfrm>
          <a:prstGeom prst="ellipse">
            <a:avLst/>
          </a:prstGeom>
          <a:solidFill>
            <a:srgbClr val="CCF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158984" y="918057"/>
            <a:ext cx="1119225" cy="1119225"/>
          </a:xfrm>
          <a:prstGeom prst="ellipse">
            <a:avLst/>
          </a:prstGeom>
          <a:solidFill>
            <a:srgbClr val="CCF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811865" y="1353312"/>
            <a:ext cx="808329" cy="808329"/>
          </a:xfrm>
          <a:prstGeom prst="ellipse">
            <a:avLst/>
          </a:prstGeom>
          <a:solidFill>
            <a:srgbClr val="CCF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55448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 i="0">
                <a:solidFill>
                  <a:srgbClr val="CCFF33"/>
                </a:solidFill>
                <a:latin typeface="Courier New"/>
              </a:rPr>
              <a:t>OPEN  COMPUTE  PROTOCOL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1965960"/>
            <a:ext cx="100584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600" b="1" i="0">
                <a:solidFill>
                  <a:srgbClr val="FFFFFF"/>
                </a:solidFill>
                <a:latin typeface="Arial"/>
              </a:rPr>
              <a:t>Cloudiy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566160"/>
            <a:ext cx="96012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600" b="0" i="0">
                <a:solidFill>
                  <a:srgbClr val="FFFFFF"/>
                </a:solidFill>
                <a:latin typeface="Arial"/>
              </a:rPr>
              <a:t>GPU compute as an open protocol.</a:t>
            </a:r>
            <a:r>
              <a:rPr sz="2600" b="0" i="0">
                <a:solidFill>
                  <a:srgbClr val="9AA69A"/>
                </a:solidFill>
                <a:latin typeface="Arial"/>
              </a:rPr>
              <a:t>  Paid per job in USDC. Built for AI agents.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5806440"/>
            <a:ext cx="10515600" cy="18288"/>
          </a:xfrm>
          <a:prstGeom prst="rect">
            <a:avLst/>
          </a:prstGeom>
          <a:solidFill>
            <a:srgbClr val="333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59893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 i="0">
                <a:solidFill>
                  <a:srgbClr val="CCFF33"/>
                </a:solidFill>
                <a:latin typeface="Courier New"/>
              </a:rPr>
              <a:t>github.com/w3-surfer/cloudiy</a:t>
            </a:r>
            <a:r>
              <a:rPr sz="1400" b="0" i="0">
                <a:solidFill>
                  <a:srgbClr val="9AA69A"/>
                </a:solidFill>
                <a:latin typeface="Courier New"/>
              </a:rPr>
              <a:t>     Solana  ·  x402  ·  USDC  ·  Rust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42162" y="759866"/>
            <a:ext cx="441655" cy="161300"/>
          </a:xfrm>
          <a:prstGeom prst="roundRect">
            <a:avLst/>
          </a:prstGeom>
          <a:solidFill>
            <a:srgbClr val="CCF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30640" y="709940"/>
            <a:ext cx="211226" cy="211226"/>
          </a:xfrm>
          <a:prstGeom prst="ellipse">
            <a:avLst/>
          </a:prstGeom>
          <a:solidFill>
            <a:srgbClr val="CCF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38174" y="594725"/>
            <a:ext cx="276514" cy="276514"/>
          </a:xfrm>
          <a:prstGeom prst="ellipse">
            <a:avLst/>
          </a:prstGeom>
          <a:solidFill>
            <a:srgbClr val="CCF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99474" y="702259"/>
            <a:ext cx="199704" cy="199704"/>
          </a:xfrm>
          <a:prstGeom prst="ellipse">
            <a:avLst/>
          </a:prstGeom>
          <a:solidFill>
            <a:srgbClr val="CCF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81328" y="566928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 i="0">
                <a:solidFill>
                  <a:srgbClr val="CCFF33"/>
                </a:solidFill>
                <a:latin typeface="Courier New"/>
              </a:rPr>
              <a:t>THE 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96012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4000" b="1" i="0">
                <a:solidFill>
                  <a:srgbClr val="FFFFFF"/>
                </a:solidFill>
                <a:latin typeface="Arial"/>
              </a:rPr>
              <a:t>Compute is locked behind a login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194560"/>
            <a:ext cx="10515600" cy="1207008"/>
          </a:xfrm>
          <a:prstGeom prst="roundRect">
            <a:avLst>
              <a:gd name="adj" fmla="val 8000"/>
            </a:avLst>
          </a:prstGeom>
          <a:solidFill>
            <a:srgbClr val="181E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51560" y="2450591"/>
            <a:ext cx="128016" cy="694944"/>
          </a:xfrm>
          <a:prstGeom prst="rect">
            <a:avLst/>
          </a:prstGeom>
          <a:solidFill>
            <a:srgbClr val="CCF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71600" y="2395728"/>
            <a:ext cx="9692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100" b="1" i="0">
                <a:solidFill>
                  <a:srgbClr val="FFFFFF"/>
                </a:solidFill>
                <a:latin typeface="Arial"/>
              </a:rPr>
              <a:t>Renting a GPU is heavy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816352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 i="0">
                <a:solidFill>
                  <a:srgbClr val="9AA69A"/>
                </a:solidFill>
                <a:latin typeface="Arial"/>
              </a:rPr>
              <a:t>A cloud account, KYC, a credit card, monthly minimums. Hours to onboard for a job that runs in seconds.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3566160"/>
            <a:ext cx="10515600" cy="1207008"/>
          </a:xfrm>
          <a:prstGeom prst="roundRect">
            <a:avLst>
              <a:gd name="adj" fmla="val 8000"/>
            </a:avLst>
          </a:prstGeom>
          <a:solidFill>
            <a:srgbClr val="181E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51560" y="3822191"/>
            <a:ext cx="128016" cy="694944"/>
          </a:xfrm>
          <a:prstGeom prst="rect">
            <a:avLst/>
          </a:prstGeom>
          <a:solidFill>
            <a:srgbClr val="2775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3767328"/>
            <a:ext cx="9692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100" b="1" i="0">
                <a:solidFill>
                  <a:srgbClr val="FFFFFF"/>
                </a:solidFill>
                <a:latin typeface="Arial"/>
              </a:rPr>
              <a:t>AI agents can't pay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187952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 i="0">
                <a:solidFill>
                  <a:srgbClr val="9AA69A"/>
                </a:solidFill>
                <a:latin typeface="Arial"/>
              </a:rPr>
              <a:t>No card, no login, no checkout. The fastest-growing consumers of compute are the ones most locked out.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4937760"/>
            <a:ext cx="10515600" cy="1207008"/>
          </a:xfrm>
          <a:prstGeom prst="roundRect">
            <a:avLst>
              <a:gd name="adj" fmla="val 8000"/>
            </a:avLst>
          </a:prstGeom>
          <a:solidFill>
            <a:srgbClr val="181E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051560" y="5193792"/>
            <a:ext cx="128016" cy="694944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71600" y="5138928"/>
            <a:ext cx="9692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100" b="1" i="0">
                <a:solidFill>
                  <a:srgbClr val="FFFFFF"/>
                </a:solidFill>
                <a:latin typeface="Arial"/>
              </a:rPr>
              <a:t>Idle GPUs earn nothing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5559552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 i="0">
                <a:solidFill>
                  <a:srgbClr val="9AA69A"/>
                </a:solidFill>
                <a:latin typeface="Arial"/>
              </a:rPr>
              <a:t>Millions of consumer GPUs sit unused. There is no simple way to sell spare cycles to whoever needs them.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19088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333B33"/>
                </a:solidFill>
                <a:latin typeface="Courier New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42162" y="759866"/>
            <a:ext cx="441655" cy="161300"/>
          </a:xfrm>
          <a:prstGeom prst="roundRect">
            <a:avLst/>
          </a:prstGeom>
          <a:solidFill>
            <a:srgbClr val="CCF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30640" y="709940"/>
            <a:ext cx="211226" cy="211226"/>
          </a:xfrm>
          <a:prstGeom prst="ellipse">
            <a:avLst/>
          </a:prstGeom>
          <a:solidFill>
            <a:srgbClr val="CCF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38174" y="594725"/>
            <a:ext cx="276514" cy="276514"/>
          </a:xfrm>
          <a:prstGeom prst="ellipse">
            <a:avLst/>
          </a:prstGeom>
          <a:solidFill>
            <a:srgbClr val="CCF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99474" y="702259"/>
            <a:ext cx="199704" cy="199704"/>
          </a:xfrm>
          <a:prstGeom prst="ellipse">
            <a:avLst/>
          </a:prstGeom>
          <a:solidFill>
            <a:srgbClr val="CCF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81328" y="566928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 i="0">
                <a:solidFill>
                  <a:srgbClr val="CCFF33"/>
                </a:solidFill>
                <a:latin typeface="Courier New"/>
              </a:rPr>
              <a:t>THE INSIGHT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96012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800" b="1" i="0">
                <a:solidFill>
                  <a:srgbClr val="FFFFFF"/>
                </a:solidFill>
                <a:latin typeface="Arial"/>
              </a:rPr>
              <a:t>Computation should be a protocol,
not a marketplace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51460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0" i="0">
                <a:solidFill>
                  <a:srgbClr val="9AA69A"/>
                </a:solidFill>
                <a:latin typeface="Arial"/>
              </a:rPr>
              <a:t>HTTP standardized access to </a:t>
            </a:r>
            <a:r>
              <a:rPr sz="2000" b="1" i="0">
                <a:solidFill>
                  <a:srgbClr val="FFFFFF"/>
                </a:solidFill>
                <a:latin typeface="Arial"/>
              </a:rPr>
              <a:t>information</a:t>
            </a:r>
            <a:r>
              <a:rPr sz="2000" b="0" i="0">
                <a:solidFill>
                  <a:srgbClr val="9AA69A"/>
                </a:solidFill>
                <a:latin typeface="Arial"/>
              </a:rPr>
              <a:t>.  Cloudiy standardizes access to </a:t>
            </a:r>
            <a:r>
              <a:rPr sz="2000" b="1" i="0">
                <a:solidFill>
                  <a:srgbClr val="CCFF33"/>
                </a:solidFill>
                <a:latin typeface="Arial"/>
              </a:rPr>
              <a:t>computation</a:t>
            </a:r>
            <a:r>
              <a:rPr sz="2000" b="0" i="0">
                <a:solidFill>
                  <a:srgbClr val="9AA69A"/>
                </a:solidFill>
                <a:latin typeface="Arial"/>
              </a:rPr>
              <a:t>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3611880"/>
            <a:ext cx="3401568" cy="2286000"/>
          </a:xfrm>
          <a:prstGeom prst="roundRect">
            <a:avLst>
              <a:gd name="adj" fmla="val 8000"/>
            </a:avLst>
          </a:prstGeom>
          <a:solidFill>
            <a:srgbClr val="181E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3886200"/>
            <a:ext cx="285292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1" i="0">
                <a:solidFill>
                  <a:srgbClr val="CCFF33"/>
                </a:solidFill>
                <a:latin typeface="Arial"/>
              </a:rPr>
              <a:t>Everything is a Resource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4617720"/>
            <a:ext cx="2852928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9AA69A"/>
                </a:solidFill>
                <a:latin typeface="Arial"/>
              </a:rPr>
              <a:t>cpu · memory · gpu · vram · storage — an open set. Adding a kind never means re-architecting.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79976" y="3611880"/>
            <a:ext cx="3401568" cy="2286000"/>
          </a:xfrm>
          <a:prstGeom prst="roundRect">
            <a:avLst>
              <a:gd name="adj" fmla="val 8000"/>
            </a:avLst>
          </a:prstGeom>
          <a:solidFill>
            <a:srgbClr val="181E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54296" y="3886200"/>
            <a:ext cx="285292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1" i="0">
                <a:solidFill>
                  <a:srgbClr val="CCFF33"/>
                </a:solidFill>
                <a:latin typeface="Arial"/>
              </a:rPr>
              <a:t>Everything is an Identity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54296" y="4617720"/>
            <a:ext cx="2852928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9AA69A"/>
                </a:solidFill>
                <a:latin typeface="Arial"/>
              </a:rPr>
              <a:t>Human, AI agent, company, DAO. One opaque, verifiable key. The protocol never asks who you are.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36992" y="3611880"/>
            <a:ext cx="3401568" cy="2286000"/>
          </a:xfrm>
          <a:prstGeom prst="roundRect">
            <a:avLst>
              <a:gd name="adj" fmla="val 8000"/>
            </a:avLst>
          </a:prstGeom>
          <a:solidFill>
            <a:srgbClr val="181E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11312" y="3886200"/>
            <a:ext cx="285292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1" i="0">
                <a:solidFill>
                  <a:srgbClr val="CCFF33"/>
                </a:solidFill>
                <a:latin typeface="Arial"/>
              </a:rPr>
              <a:t>Describe WHAT, not HOW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11312" y="4617720"/>
            <a:ext cx="2852928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9AA69A"/>
                </a:solidFill>
                <a:latin typeface="Arial"/>
              </a:rPr>
              <a:t>Consumers request capabilities. Docker, CUDA, SSH, Kubernetes never leak through the API.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38560" y="6419088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333B33"/>
                </a:solidFill>
                <a:latin typeface="Courier New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42162" y="759866"/>
            <a:ext cx="441655" cy="161300"/>
          </a:xfrm>
          <a:prstGeom prst="roundRect">
            <a:avLst/>
          </a:prstGeom>
          <a:solidFill>
            <a:srgbClr val="CCF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30640" y="709940"/>
            <a:ext cx="211226" cy="211226"/>
          </a:xfrm>
          <a:prstGeom prst="ellipse">
            <a:avLst/>
          </a:prstGeom>
          <a:solidFill>
            <a:srgbClr val="CCF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38174" y="594725"/>
            <a:ext cx="276514" cy="276514"/>
          </a:xfrm>
          <a:prstGeom prst="ellipse">
            <a:avLst/>
          </a:prstGeom>
          <a:solidFill>
            <a:srgbClr val="CCF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99474" y="702259"/>
            <a:ext cx="199704" cy="199704"/>
          </a:xfrm>
          <a:prstGeom prst="ellipse">
            <a:avLst/>
          </a:prstGeom>
          <a:solidFill>
            <a:srgbClr val="CCF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81328" y="566928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 i="0">
                <a:solidFill>
                  <a:srgbClr val="CCFF33"/>
                </a:solidFill>
                <a:latin typeface="Courier New"/>
              </a:rPr>
              <a:t>HOW IT WORKS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96012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4000" b="1" i="0">
                <a:solidFill>
                  <a:srgbClr val="FFFFFF"/>
                </a:solidFill>
                <a:latin typeface="Arial"/>
              </a:rPr>
              <a:t>The x402 loop: request, pay, compute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468880"/>
            <a:ext cx="2084831" cy="2468880"/>
          </a:xfrm>
          <a:prstGeom prst="roundRect">
            <a:avLst>
              <a:gd name="adj" fmla="val 8000"/>
            </a:avLst>
          </a:prstGeom>
          <a:solidFill>
            <a:srgbClr val="181E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78992" y="2724912"/>
            <a:ext cx="566928" cy="56692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0D110D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" y="3456432"/>
            <a:ext cx="1627631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50" b="1" i="0">
                <a:solidFill>
                  <a:srgbClr val="FFFFFF"/>
                </a:solidFill>
                <a:latin typeface="Arial"/>
              </a:rPr>
              <a:t>Discover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" y="4160520"/>
            <a:ext cx="1673351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50" b="0" i="0">
                <a:solidFill>
                  <a:srgbClr val="9AA69A"/>
                </a:solidFill>
                <a:latin typeface="Arial"/>
              </a:rPr>
              <a:t>Find a node over P2P.
No ports, no signup.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026663" y="2468880"/>
            <a:ext cx="2084831" cy="2468880"/>
          </a:xfrm>
          <a:prstGeom prst="roundRect">
            <a:avLst>
              <a:gd name="adj" fmla="val 8000"/>
            </a:avLst>
          </a:prstGeom>
          <a:solidFill>
            <a:srgbClr val="181E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282696" y="2724912"/>
            <a:ext cx="566928" cy="566928"/>
          </a:xfrm>
          <a:prstGeom prst="ellipse">
            <a:avLst/>
          </a:prstGeom>
          <a:solidFill>
            <a:srgbClr val="CCF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0D110D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82696" y="3456432"/>
            <a:ext cx="1627631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50" b="1" i="0">
                <a:solidFill>
                  <a:srgbClr val="FFFFFF"/>
                </a:solidFill>
                <a:latin typeface="Arial"/>
              </a:rPr>
              <a:t>402 Payment Required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82696" y="4160520"/>
            <a:ext cx="1673351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50" b="0" i="0">
                <a:solidFill>
                  <a:srgbClr val="9AA69A"/>
                </a:solidFill>
                <a:latin typeface="Arial"/>
              </a:rPr>
              <a:t>Node quotes the job
in USDC via x402.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230367" y="2468880"/>
            <a:ext cx="2084831" cy="2468880"/>
          </a:xfrm>
          <a:prstGeom prst="roundRect">
            <a:avLst>
              <a:gd name="adj" fmla="val 8000"/>
            </a:avLst>
          </a:prstGeom>
          <a:solidFill>
            <a:srgbClr val="181E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486399" y="2724912"/>
            <a:ext cx="566928" cy="566928"/>
          </a:xfrm>
          <a:prstGeom prst="ellipse">
            <a:avLst/>
          </a:prstGeom>
          <a:solidFill>
            <a:srgbClr val="2775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0D110D"/>
                </a:solidFill>
                <a:latin typeface="Arial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399" y="3456432"/>
            <a:ext cx="1627631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50" b="1" i="0">
                <a:solidFill>
                  <a:srgbClr val="FFFFFF"/>
                </a:solidFill>
                <a:latin typeface="Arial"/>
              </a:rPr>
              <a:t>Pay in USDC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399" y="4160520"/>
            <a:ext cx="1673351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50" b="0" i="0">
                <a:solidFill>
                  <a:srgbClr val="9AA69A"/>
                </a:solidFill>
                <a:latin typeface="Arial"/>
              </a:rPr>
              <a:t>Payment locks in the
Solana escrow.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34071" y="2468880"/>
            <a:ext cx="2084831" cy="2468880"/>
          </a:xfrm>
          <a:prstGeom prst="roundRect">
            <a:avLst>
              <a:gd name="adj" fmla="val 8000"/>
            </a:avLst>
          </a:prstGeom>
          <a:solidFill>
            <a:srgbClr val="181E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690103" y="2724912"/>
            <a:ext cx="566928" cy="56692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0D110D"/>
                </a:solidFill>
                <a:latin typeface="Arial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90103" y="3456432"/>
            <a:ext cx="1627631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50" b="1" i="0">
                <a:solidFill>
                  <a:srgbClr val="FFFFFF"/>
                </a:solidFill>
                <a:latin typeface="Arial"/>
              </a:rPr>
              <a:t>Run on GPU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90103" y="4160520"/>
            <a:ext cx="1673351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50" b="0" i="0">
                <a:solidFill>
                  <a:srgbClr val="9AA69A"/>
                </a:solidFill>
                <a:latin typeface="Arial"/>
              </a:rPr>
              <a:t>WGSL kernel or
container executes.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637776" y="2468880"/>
            <a:ext cx="2084831" cy="2468880"/>
          </a:xfrm>
          <a:prstGeom prst="roundRect">
            <a:avLst>
              <a:gd name="adj" fmla="val 8000"/>
            </a:avLst>
          </a:prstGeom>
          <a:solidFill>
            <a:srgbClr val="181E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893807" y="2724912"/>
            <a:ext cx="566928" cy="566928"/>
          </a:xfrm>
          <a:prstGeom prst="ellipse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0D110D"/>
                </a:solidFill>
                <a:latin typeface="Arial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93807" y="3456432"/>
            <a:ext cx="1627631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50" b="1" i="0">
                <a:solidFill>
                  <a:srgbClr val="FFFFFF"/>
                </a:solidFill>
                <a:latin typeface="Arial"/>
              </a:rPr>
              <a:t>Signed result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93807" y="4160520"/>
            <a:ext cx="1673351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50" b="0" i="0">
                <a:solidFill>
                  <a:srgbClr val="9AA69A"/>
                </a:solidFill>
                <a:latin typeface="Arial"/>
              </a:rPr>
              <a:t>Signed output;
escrow pays out.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026664" y="5257800"/>
            <a:ext cx="2322576" cy="457200"/>
          </a:xfrm>
          <a:prstGeom prst="roundRect">
            <a:avLst>
              <a:gd name="adj" fmla="val 8000"/>
            </a:avLst>
          </a:prstGeom>
          <a:noFill/>
          <a:ln w="15875">
            <a:solidFill>
              <a:srgbClr val="CCFF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026664" y="5358384"/>
            <a:ext cx="232257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CCFF33"/>
                </a:solidFill>
                <a:latin typeface="Courier New"/>
              </a:rPr>
              <a:t>the x402 payment loop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338560" y="6419088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333B33"/>
                </a:solidFill>
                <a:latin typeface="Courier New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42162" y="759866"/>
            <a:ext cx="441655" cy="161300"/>
          </a:xfrm>
          <a:prstGeom prst="roundRect">
            <a:avLst/>
          </a:prstGeom>
          <a:solidFill>
            <a:srgbClr val="CCF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30640" y="709940"/>
            <a:ext cx="211226" cy="211226"/>
          </a:xfrm>
          <a:prstGeom prst="ellipse">
            <a:avLst/>
          </a:prstGeom>
          <a:solidFill>
            <a:srgbClr val="CCF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38174" y="594725"/>
            <a:ext cx="276514" cy="276514"/>
          </a:xfrm>
          <a:prstGeom prst="ellipse">
            <a:avLst/>
          </a:prstGeom>
          <a:solidFill>
            <a:srgbClr val="CCF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99474" y="702259"/>
            <a:ext cx="199704" cy="199704"/>
          </a:xfrm>
          <a:prstGeom prst="ellipse">
            <a:avLst/>
          </a:prstGeom>
          <a:solidFill>
            <a:srgbClr val="CCF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81328" y="566928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 i="0">
                <a:solidFill>
                  <a:srgbClr val="CCFF33"/>
                </a:solidFill>
                <a:latin typeface="Courier New"/>
              </a:rPr>
              <a:t>THE UNLOCK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96012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600" b="1" i="0">
                <a:solidFill>
                  <a:srgbClr val="FFFFFF"/>
                </a:solidFill>
                <a:latin typeface="Arial"/>
              </a:rPr>
              <a:t>An AI agent buys GPU compute.
No human. No token.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788920"/>
            <a:ext cx="6858000" cy="3383280"/>
          </a:xfrm>
          <a:prstGeom prst="roundRect">
            <a:avLst>
              <a:gd name="adj" fmla="val 8000"/>
            </a:avLst>
          </a:prstGeom>
          <a:solidFill>
            <a:srgbClr val="111611"/>
          </a:solidFill>
          <a:ln w="12700">
            <a:solidFill>
              <a:srgbClr val="333B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3063240"/>
            <a:ext cx="640080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350" b="0" i="0">
                <a:solidFill>
                  <a:srgbClr val="CCFF33"/>
                </a:solidFill>
                <a:latin typeface="Courier New"/>
              </a:rPr>
              <a:t>from cloudiy_sdk import CloudiyClient, PaymentRequired</a:t>
            </a:r>
          </a:p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350" b="0" i="0">
                <a:solidFill>
                  <a:srgbClr val="FFFFFF"/>
                </a:solidFill>
                <a:latin typeface="Courier New"/>
              </a:rPr>
              <a:t> </a:t>
            </a:r>
          </a:p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350" b="0" i="0">
                <a:solidFill>
                  <a:srgbClr val="FFFFFF"/>
                </a:solidFill>
                <a:latin typeface="Courier New"/>
              </a:rPr>
              <a:t>client = CloudiyClient("node-host:8080")</a:t>
            </a:r>
          </a:p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350" b="0" i="0">
                <a:solidFill>
                  <a:srgbClr val="FFFFFF"/>
                </a:solidFill>
                <a:latin typeface="Courier New"/>
              </a:rPr>
              <a:t>try:</a:t>
            </a:r>
          </a:p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350" b="0" i="0">
                <a:solidFill>
                  <a:srgbClr val="FFFFFF"/>
                </a:solidFill>
                <a:latin typeface="Courier New"/>
              </a:rPr>
              <a:t>    r = client.submit("vector_add", "1,2,3;4,5,6")</a:t>
            </a:r>
          </a:p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350" b="0" i="0">
                <a:solidFill>
                  <a:srgbClr val="9AA69A"/>
                </a:solidFill>
                <a:latin typeface="Courier New"/>
              </a:rPr>
              <a:t>except PaymentRequired as quote:      # x402 USDC quote</a:t>
            </a:r>
          </a:p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350" b="0" i="0">
                <a:solidFill>
                  <a:srgbClr val="FFFFFF"/>
                </a:solidFill>
                <a:latin typeface="Courier New"/>
              </a:rPr>
              <a:t>    r = client.submit("vector_add", "1,2,3;4,5,6",</a:t>
            </a:r>
          </a:p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350" b="0" i="0">
                <a:solidFill>
                  <a:srgbClr val="FFFFFF"/>
                </a:solidFill>
                <a:latin typeface="Courier New"/>
              </a:rPr>
              <a:t>                      payment=quote.pay())</a:t>
            </a:r>
          </a:p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350" b="0" i="0">
                <a:solidFill>
                  <a:srgbClr val="FFFFFF"/>
                </a:solidFill>
                <a:latin typeface="Courier New"/>
              </a:rPr>
              <a:t> </a:t>
            </a:r>
          </a:p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350" b="0" i="0">
                <a:solidFill>
                  <a:srgbClr val="4ADE80"/>
                </a:solidFill>
                <a:latin typeface="Courier New"/>
              </a:rPr>
              <a:t>print(r.output_text)   # "5,7,9"  - on a remote GPU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55279" y="2788920"/>
            <a:ext cx="3401568" cy="3383280"/>
          </a:xfrm>
          <a:prstGeom prst="roundRect">
            <a:avLst>
              <a:gd name="adj" fmla="val 8000"/>
            </a:avLst>
          </a:prstGeom>
          <a:solidFill>
            <a:srgbClr val="181E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3108960"/>
            <a:ext cx="2880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1" i="0">
                <a:solidFill>
                  <a:srgbClr val="CCFF33"/>
                </a:solidFill>
                <a:latin typeface="Arial"/>
              </a:rPr>
              <a:t>Zero-dependency SDK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3840480"/>
            <a:ext cx="288036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400" b="0" i="0">
                <a:solidFill>
                  <a:srgbClr val="FFFFFF"/>
                </a:solidFill>
                <a:latin typeface="Courier New"/>
              </a:rPr>
              <a:t>as_tool_schema()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400" b="0" i="0">
                <a:solidFill>
                  <a:srgbClr val="9AA69A"/>
                </a:solidFill>
                <a:latin typeface="Arial"/>
              </a:rPr>
              <a:t>emits a function-calling tool definition - so any LLM agent can buy GPU compute directly, mid-conversation.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0" y="6419088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333B33"/>
                </a:solidFill>
                <a:latin typeface="Courier New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42162" y="759866"/>
            <a:ext cx="441655" cy="161300"/>
          </a:xfrm>
          <a:prstGeom prst="roundRect">
            <a:avLst/>
          </a:prstGeom>
          <a:solidFill>
            <a:srgbClr val="CCF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30640" y="709940"/>
            <a:ext cx="211226" cy="211226"/>
          </a:xfrm>
          <a:prstGeom prst="ellipse">
            <a:avLst/>
          </a:prstGeom>
          <a:solidFill>
            <a:srgbClr val="CCF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38174" y="594725"/>
            <a:ext cx="276514" cy="276514"/>
          </a:xfrm>
          <a:prstGeom prst="ellipse">
            <a:avLst/>
          </a:prstGeom>
          <a:solidFill>
            <a:srgbClr val="CCF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99474" y="702259"/>
            <a:ext cx="199704" cy="199704"/>
          </a:xfrm>
          <a:prstGeom prst="ellipse">
            <a:avLst/>
          </a:prstGeom>
          <a:solidFill>
            <a:srgbClr val="CCF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81328" y="566928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 i="0">
                <a:solidFill>
                  <a:srgbClr val="CCFF33"/>
                </a:solidFill>
                <a:latin typeface="Courier New"/>
              </a:rPr>
              <a:t>WHY NOW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96012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4000" b="1" i="0">
                <a:solidFill>
                  <a:srgbClr val="FFFFFF"/>
                </a:solidFill>
                <a:latin typeface="Arial"/>
              </a:rPr>
              <a:t>Three curves crossing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468880"/>
            <a:ext cx="3401568" cy="3108960"/>
          </a:xfrm>
          <a:prstGeom prst="roundRect">
            <a:avLst>
              <a:gd name="adj" fmla="val 8000"/>
            </a:avLst>
          </a:prstGeom>
          <a:solidFill>
            <a:srgbClr val="181E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2743200"/>
            <a:ext cx="12801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4000" b="1" i="0">
                <a:solidFill>
                  <a:srgbClr val="CCFF33"/>
                </a:solidFill>
                <a:latin typeface="Courier New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" y="3657600"/>
            <a:ext cx="285292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1" i="0">
                <a:solidFill>
                  <a:srgbClr val="FFFFFF"/>
                </a:solidFill>
                <a:latin typeface="Arial"/>
              </a:rPr>
              <a:t>x402 is live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" y="4343400"/>
            <a:ext cx="2852928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450" b="0" i="0">
                <a:solidFill>
                  <a:srgbClr val="9AA69A"/>
                </a:solidFill>
                <a:latin typeface="Arial"/>
              </a:rPr>
              <a:t>A Solana-backed 402 Payment Required standard for machine-to-machine payments. The rail finally exists.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79976" y="2468880"/>
            <a:ext cx="3401568" cy="3108960"/>
          </a:xfrm>
          <a:prstGeom prst="roundRect">
            <a:avLst>
              <a:gd name="adj" fmla="val 8000"/>
            </a:avLst>
          </a:prstGeom>
          <a:solidFill>
            <a:srgbClr val="181E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72584" y="2743200"/>
            <a:ext cx="12801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4000" b="1" i="0">
                <a:solidFill>
                  <a:srgbClr val="CCFF33"/>
                </a:solidFill>
                <a:latin typeface="Courier New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72584" y="3657600"/>
            <a:ext cx="285292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1" i="0">
                <a:solidFill>
                  <a:srgbClr val="FFFFFF"/>
                </a:solidFill>
                <a:latin typeface="Arial"/>
              </a:rPr>
              <a:t>Agents need to pay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72584" y="4343400"/>
            <a:ext cx="2852928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450" b="0" i="0">
                <a:solidFill>
                  <a:srgbClr val="9AA69A"/>
                </a:solidFill>
                <a:latin typeface="Arial"/>
              </a:rPr>
              <a:t>Autonomous agents buy compute, data and APIs. USDC is their native money - no card, no human in the loop.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36992" y="2468880"/>
            <a:ext cx="3401568" cy="3108960"/>
          </a:xfrm>
          <a:prstGeom prst="roundRect">
            <a:avLst>
              <a:gd name="adj" fmla="val 8000"/>
            </a:avLst>
          </a:prstGeom>
          <a:solidFill>
            <a:srgbClr val="181E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0" y="2743200"/>
            <a:ext cx="12801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4000" b="1" i="0">
                <a:solidFill>
                  <a:srgbClr val="CCFF33"/>
                </a:solidFill>
                <a:latin typeface="Courier New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3657600"/>
            <a:ext cx="285292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1" i="0">
                <a:solidFill>
                  <a:srgbClr val="FFFFFF"/>
                </a:solidFill>
                <a:latin typeface="Arial"/>
              </a:rPr>
              <a:t>DePIN long tail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4343400"/>
            <a:ext cx="2852928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450" b="0" i="0">
                <a:solidFill>
                  <a:srgbClr val="9AA69A"/>
                </a:solidFill>
                <a:latin typeface="Arial"/>
              </a:rPr>
              <a:t>Supply no longer means a datacenter. Every consumer GPU can join the pool with one command.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19088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333B33"/>
                </a:solidFill>
                <a:latin typeface="Courier New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42162" y="759866"/>
            <a:ext cx="441655" cy="161300"/>
          </a:xfrm>
          <a:prstGeom prst="roundRect">
            <a:avLst/>
          </a:prstGeom>
          <a:solidFill>
            <a:srgbClr val="CCF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30640" y="709940"/>
            <a:ext cx="211226" cy="211226"/>
          </a:xfrm>
          <a:prstGeom prst="ellipse">
            <a:avLst/>
          </a:prstGeom>
          <a:solidFill>
            <a:srgbClr val="CCF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38174" y="594725"/>
            <a:ext cx="276514" cy="276514"/>
          </a:xfrm>
          <a:prstGeom prst="ellipse">
            <a:avLst/>
          </a:prstGeom>
          <a:solidFill>
            <a:srgbClr val="CCF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99474" y="702259"/>
            <a:ext cx="199704" cy="199704"/>
          </a:xfrm>
          <a:prstGeom prst="ellipse">
            <a:avLst/>
          </a:prstGeom>
          <a:solidFill>
            <a:srgbClr val="CCF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81328" y="566928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 i="0">
                <a:solidFill>
                  <a:srgbClr val="CCFF33"/>
                </a:solidFill>
                <a:latin typeface="Courier New"/>
              </a:rPr>
              <a:t>TRACTION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96012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4000" b="1" i="0">
                <a:solidFill>
                  <a:srgbClr val="FFFFFF"/>
                </a:solidFill>
                <a:latin typeface="Arial"/>
              </a:rPr>
              <a:t>Not slideware - it runs today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377440"/>
            <a:ext cx="3401568" cy="1417320"/>
          </a:xfrm>
          <a:prstGeom prst="roundRect">
            <a:avLst>
              <a:gd name="adj" fmla="val 8000"/>
            </a:avLst>
          </a:prstGeom>
          <a:solidFill>
            <a:srgbClr val="181E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615184"/>
            <a:ext cx="285292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1" i="0">
                <a:solidFill>
                  <a:srgbClr val="CCFF33"/>
                </a:solidFill>
                <a:latin typeface="Arial"/>
              </a:rPr>
              <a:t>One binary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127248"/>
            <a:ext cx="289864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50" b="0" i="0">
                <a:solidFill>
                  <a:srgbClr val="9AA69A"/>
                </a:solidFill>
                <a:latin typeface="Courier New"/>
              </a:rPr>
              <a:t>cloudiy share · cloudiy run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79976" y="2377440"/>
            <a:ext cx="3401568" cy="1417320"/>
          </a:xfrm>
          <a:prstGeom prst="roundRect">
            <a:avLst>
              <a:gd name="adj" fmla="val 8000"/>
            </a:avLst>
          </a:prstGeom>
          <a:solidFill>
            <a:srgbClr val="181E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54296" y="2615184"/>
            <a:ext cx="285292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1" i="0">
                <a:solidFill>
                  <a:srgbClr val="CCFF33"/>
                </a:solidFill>
                <a:latin typeface="Arial"/>
              </a:rPr>
              <a:t>P2P via iroh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54296" y="3127248"/>
            <a:ext cx="289864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50" b="0" i="0">
                <a:solidFill>
                  <a:srgbClr val="9AA69A"/>
                </a:solidFill>
                <a:latin typeface="Courier New"/>
              </a:rPr>
              <a:t>NAT traversal, no port forwarding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36992" y="2377440"/>
            <a:ext cx="3401568" cy="1417320"/>
          </a:xfrm>
          <a:prstGeom prst="roundRect">
            <a:avLst>
              <a:gd name="adj" fmla="val 8000"/>
            </a:avLst>
          </a:prstGeom>
          <a:solidFill>
            <a:srgbClr val="181E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11312" y="2615184"/>
            <a:ext cx="285292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1" i="0">
                <a:solidFill>
                  <a:srgbClr val="CCFF33"/>
                </a:solidFill>
                <a:latin typeface="Arial"/>
              </a:rPr>
              <a:t>WGSL runtime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11312" y="3127248"/>
            <a:ext cx="289864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50" b="0" i="0">
                <a:solidFill>
                  <a:srgbClr val="9AA69A"/>
                </a:solidFill>
                <a:latin typeface="Courier New"/>
              </a:rPr>
              <a:t>any GPU - no CUDA, no Docker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3977639"/>
            <a:ext cx="3401568" cy="1417320"/>
          </a:xfrm>
          <a:prstGeom prst="roundRect">
            <a:avLst>
              <a:gd name="adj" fmla="val 8000"/>
            </a:avLst>
          </a:prstGeom>
          <a:solidFill>
            <a:srgbClr val="181E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4215383"/>
            <a:ext cx="285292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1" i="0">
                <a:solidFill>
                  <a:srgbClr val="CCFF33"/>
                </a:solidFill>
                <a:latin typeface="Arial"/>
              </a:rPr>
              <a:t>Signed results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4727448"/>
            <a:ext cx="289864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50" b="0" i="0">
                <a:solidFill>
                  <a:srgbClr val="9AA69A"/>
                </a:solidFill>
                <a:latin typeface="Courier New"/>
              </a:rPr>
              <a:t>ed25519 proof of who computed what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79976" y="3977639"/>
            <a:ext cx="3401568" cy="1417320"/>
          </a:xfrm>
          <a:prstGeom prst="roundRect">
            <a:avLst>
              <a:gd name="adj" fmla="val 8000"/>
            </a:avLst>
          </a:prstGeom>
          <a:solidFill>
            <a:srgbClr val="181E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54296" y="4215383"/>
            <a:ext cx="285292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1" i="0">
                <a:solidFill>
                  <a:srgbClr val="CCFF33"/>
                </a:solidFill>
                <a:latin typeface="Arial"/>
              </a:rPr>
              <a:t>USDC escrow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54296" y="4727448"/>
            <a:ext cx="289864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50" b="0" i="0">
                <a:solidFill>
                  <a:srgbClr val="9AA69A"/>
                </a:solidFill>
                <a:latin typeface="Courier New"/>
              </a:rPr>
              <a:t>Anchor program live on devnet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936992" y="3977639"/>
            <a:ext cx="3401568" cy="1417320"/>
          </a:xfrm>
          <a:prstGeom prst="roundRect">
            <a:avLst>
              <a:gd name="adj" fmla="val 8000"/>
            </a:avLst>
          </a:prstGeom>
          <a:solidFill>
            <a:srgbClr val="181E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11312" y="4215383"/>
            <a:ext cx="285292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1" i="0">
                <a:solidFill>
                  <a:srgbClr val="CCFF33"/>
                </a:solidFill>
                <a:latin typeface="Arial"/>
              </a:rPr>
              <a:t>SDKs x3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11312" y="4727448"/>
            <a:ext cx="289864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50" b="0" i="0">
                <a:solidFill>
                  <a:srgbClr val="9AA69A"/>
                </a:solidFill>
                <a:latin typeface="Courier New"/>
              </a:rPr>
              <a:t>Rust · Python · JS + agent tool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2960" y="5806440"/>
            <a:ext cx="10515600" cy="566928"/>
          </a:xfrm>
          <a:prstGeom prst="roundRect">
            <a:avLst>
              <a:gd name="adj" fmla="val 8000"/>
            </a:avLst>
          </a:prstGeom>
          <a:solidFill>
            <a:srgbClr val="1116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97280" y="59436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50" b="1" i="0">
                <a:solidFill>
                  <a:srgbClr val="4ADE80"/>
                </a:solidFill>
                <a:latin typeface="Courier New"/>
              </a:rPr>
              <a:t>CI green:  </a:t>
            </a:r>
            <a:r>
              <a:rPr sz="1350" b="0" i="0">
                <a:solidFill>
                  <a:srgbClr val="9AA69A"/>
                </a:solidFill>
                <a:latin typeface="Courier New"/>
              </a:rPr>
              <a:t>build · tests · e2e over real P2P · Anchor contract · cargo-deny + audit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19088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333B33"/>
                </a:solidFill>
                <a:latin typeface="Courier New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42162" y="759866"/>
            <a:ext cx="441655" cy="161300"/>
          </a:xfrm>
          <a:prstGeom prst="roundRect">
            <a:avLst/>
          </a:prstGeom>
          <a:solidFill>
            <a:srgbClr val="CCF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30640" y="709940"/>
            <a:ext cx="211226" cy="211226"/>
          </a:xfrm>
          <a:prstGeom prst="ellipse">
            <a:avLst/>
          </a:prstGeom>
          <a:solidFill>
            <a:srgbClr val="CCF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38174" y="594725"/>
            <a:ext cx="276514" cy="276514"/>
          </a:xfrm>
          <a:prstGeom prst="ellipse">
            <a:avLst/>
          </a:prstGeom>
          <a:solidFill>
            <a:srgbClr val="CCF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99474" y="702259"/>
            <a:ext cx="199704" cy="199704"/>
          </a:xfrm>
          <a:prstGeom prst="ellipse">
            <a:avLst/>
          </a:prstGeom>
          <a:solidFill>
            <a:srgbClr val="CCF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81328" y="566928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 i="0">
                <a:solidFill>
                  <a:srgbClr val="CCFF33"/>
                </a:solidFill>
                <a:latin typeface="Courier New"/>
              </a:rPr>
              <a:t>WHY WE WIN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96012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4000" b="1" i="0">
                <a:solidFill>
                  <a:srgbClr val="FFFFFF"/>
                </a:solidFill>
                <a:latin typeface="Arial"/>
              </a:rPr>
              <a:t>Different where it counts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633472"/>
            <a:ext cx="22860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 i="0">
                <a:solidFill>
                  <a:srgbClr val="9AA69A"/>
                </a:solidFill>
                <a:latin typeface="Arial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2633472"/>
            <a:ext cx="38404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1" i="0">
                <a:solidFill>
                  <a:srgbClr val="CCFF33"/>
                </a:solidFill>
                <a:latin typeface="Courier New"/>
              </a:rPr>
              <a:t>Cloudiy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0" y="2633472"/>
            <a:ext cx="34747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1" i="0">
                <a:solidFill>
                  <a:srgbClr val="9AA69A"/>
                </a:solidFill>
                <a:latin typeface="Courier New"/>
              </a:rPr>
              <a:t>Akash · io.net · Render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3218688"/>
            <a:ext cx="10515600" cy="749808"/>
          </a:xfrm>
          <a:prstGeom prst="rect">
            <a:avLst/>
          </a:prstGeom>
          <a:solidFill>
            <a:srgbClr val="181E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3383280"/>
            <a:ext cx="22860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 i="0">
                <a:solidFill>
                  <a:srgbClr val="9AA69A"/>
                </a:solidFill>
                <a:latin typeface="Arial"/>
              </a:rPr>
              <a:t>Supply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3383280"/>
            <a:ext cx="38404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50" b="0" i="0">
                <a:solidFill>
                  <a:srgbClr val="FFFFFF"/>
                </a:solidFill>
                <a:latin typeface="Courier New"/>
              </a:rPr>
              <a:t>Personal GPUs + datacenter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9520" y="3383280"/>
            <a:ext cx="34747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50" b="0" i="0">
                <a:solidFill>
                  <a:srgbClr val="9AA69A"/>
                </a:solidFill>
                <a:latin typeface="Courier New"/>
              </a:rPr>
              <a:t>Datacenter only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3968496"/>
            <a:ext cx="10515600" cy="749808"/>
          </a:xfrm>
          <a:prstGeom prst="rect">
            <a:avLst/>
          </a:prstGeom>
          <a:solidFill>
            <a:srgbClr val="1116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4133087"/>
            <a:ext cx="22860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 i="0">
                <a:solidFill>
                  <a:srgbClr val="9AA69A"/>
                </a:solidFill>
                <a:latin typeface="Arial"/>
              </a:rPr>
              <a:t>Agent payments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0" y="4133087"/>
            <a:ext cx="38404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50" b="0" i="0">
                <a:solidFill>
                  <a:srgbClr val="FFFFFF"/>
                </a:solidFill>
                <a:latin typeface="Courier New"/>
              </a:rPr>
              <a:t>x402 / USDC, zero login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89520" y="4133087"/>
            <a:ext cx="34747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50" b="0" i="0">
                <a:solidFill>
                  <a:srgbClr val="9AA69A"/>
                </a:solidFill>
                <a:latin typeface="Courier New"/>
              </a:rPr>
              <a:t>Not supported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" y="4718304"/>
            <a:ext cx="10515600" cy="749808"/>
          </a:xfrm>
          <a:prstGeom prst="rect">
            <a:avLst/>
          </a:prstGeom>
          <a:solidFill>
            <a:srgbClr val="181E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4882896"/>
            <a:ext cx="22860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 i="0">
                <a:solidFill>
                  <a:srgbClr val="9AA69A"/>
                </a:solidFill>
                <a:latin typeface="Arial"/>
              </a:rPr>
              <a:t>Token required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74720" y="4882896"/>
            <a:ext cx="38404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50" b="0" i="0">
                <a:solidFill>
                  <a:srgbClr val="FFFFFF"/>
                </a:solidFill>
                <a:latin typeface="Courier New"/>
              </a:rPr>
              <a:t>No - USDC only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89520" y="4882896"/>
            <a:ext cx="34747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50" b="0" i="0">
                <a:solidFill>
                  <a:srgbClr val="9AA69A"/>
                </a:solidFill>
                <a:latin typeface="Courier New"/>
              </a:rPr>
              <a:t>Yes, native token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60" y="5468112"/>
            <a:ext cx="10515600" cy="749808"/>
          </a:xfrm>
          <a:prstGeom prst="rect">
            <a:avLst/>
          </a:prstGeom>
          <a:solidFill>
            <a:srgbClr val="1116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97280" y="5632704"/>
            <a:ext cx="22860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 i="0">
                <a:solidFill>
                  <a:srgbClr val="9AA69A"/>
                </a:solidFill>
                <a:latin typeface="Arial"/>
              </a:rPr>
              <a:t>Protocol fee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74720" y="5632704"/>
            <a:ext cx="38404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50" b="0" i="0">
                <a:solidFill>
                  <a:srgbClr val="FFFFFF"/>
                </a:solidFill>
                <a:latin typeface="Courier New"/>
              </a:rPr>
              <a:t>4%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89520" y="5632704"/>
            <a:ext cx="34747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50" b="0" i="0">
                <a:solidFill>
                  <a:srgbClr val="9AA69A"/>
                </a:solidFill>
                <a:latin typeface="Courier New"/>
              </a:rPr>
              <a:t>up to ~20%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337560" y="3218688"/>
            <a:ext cx="18288" cy="2999232"/>
          </a:xfrm>
          <a:prstGeom prst="rect">
            <a:avLst/>
          </a:prstGeom>
          <a:solidFill>
            <a:srgbClr val="333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338560" y="6419088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333B33"/>
                </a:solidFill>
                <a:latin typeface="Courier New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42162" y="759866"/>
            <a:ext cx="441655" cy="161300"/>
          </a:xfrm>
          <a:prstGeom prst="roundRect">
            <a:avLst/>
          </a:prstGeom>
          <a:solidFill>
            <a:srgbClr val="CCF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30640" y="709940"/>
            <a:ext cx="211226" cy="211226"/>
          </a:xfrm>
          <a:prstGeom prst="ellipse">
            <a:avLst/>
          </a:prstGeom>
          <a:solidFill>
            <a:srgbClr val="CCF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38174" y="594725"/>
            <a:ext cx="276514" cy="276514"/>
          </a:xfrm>
          <a:prstGeom prst="ellipse">
            <a:avLst/>
          </a:prstGeom>
          <a:solidFill>
            <a:srgbClr val="CCF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99474" y="702259"/>
            <a:ext cx="199704" cy="199704"/>
          </a:xfrm>
          <a:prstGeom prst="ellipse">
            <a:avLst/>
          </a:prstGeom>
          <a:solidFill>
            <a:srgbClr val="CCF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81328" y="566928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 i="0">
                <a:solidFill>
                  <a:srgbClr val="CCFF33"/>
                </a:solidFill>
                <a:latin typeface="Courier New"/>
              </a:rPr>
              <a:t>THE 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96012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4000" b="1" i="0">
                <a:solidFill>
                  <a:srgbClr val="FFFFFF"/>
                </a:solidFill>
                <a:latin typeface="Arial"/>
              </a:rPr>
              <a:t>We don't need a token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468880"/>
            <a:ext cx="4937760" cy="3566160"/>
          </a:xfrm>
          <a:prstGeom prst="roundRect">
            <a:avLst>
              <a:gd name="adj" fmla="val 8000"/>
            </a:avLst>
          </a:prstGeom>
          <a:solidFill>
            <a:srgbClr val="181E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2788920"/>
            <a:ext cx="43891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8400" b="1" i="0">
                <a:solidFill>
                  <a:srgbClr val="CCFF33"/>
                </a:solidFill>
                <a:latin typeface="Arial"/>
              </a:rPr>
              <a:t>4%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4114800"/>
            <a:ext cx="4297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0" i="0">
                <a:solidFill>
                  <a:srgbClr val="FFFFFF"/>
                </a:solidFill>
                <a:latin typeface="Arial"/>
              </a:rPr>
              <a:t>protocol fee on real compute volume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4892040"/>
            <a:ext cx="42976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50" b="0" i="0">
                <a:solidFill>
                  <a:srgbClr val="9AA69A"/>
                </a:solidFill>
                <a:latin typeface="Arial"/>
              </a:rPr>
              <a:t>vs. up to ~20% take rate on incumbent networks. Revenue scales with usage, not speculation.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35040" y="2468880"/>
            <a:ext cx="5303520" cy="1097280"/>
          </a:xfrm>
          <a:prstGeom prst="roundRect">
            <a:avLst>
              <a:gd name="adj" fmla="val 8000"/>
            </a:avLst>
          </a:prstGeom>
          <a:solidFill>
            <a:srgbClr val="1116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265176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1" i="0">
                <a:solidFill>
                  <a:srgbClr val="FFFFFF"/>
                </a:solidFill>
                <a:latin typeface="Arial"/>
              </a:rPr>
              <a:t>Settlement in USDC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3054096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50" b="0" i="0">
                <a:solidFill>
                  <a:srgbClr val="9AA69A"/>
                </a:solidFill>
                <a:latin typeface="Arial"/>
              </a:rPr>
              <a:t>Payments ride x402 - no speculative asset required to move money.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35040" y="3703320"/>
            <a:ext cx="5303520" cy="1097280"/>
          </a:xfrm>
          <a:prstGeom prst="roundRect">
            <a:avLst>
              <a:gd name="adj" fmla="val 8000"/>
            </a:avLst>
          </a:prstGeom>
          <a:solidFill>
            <a:srgbClr val="1116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5080" y="388620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1" i="0">
                <a:solidFill>
                  <a:srgbClr val="FFFFFF"/>
                </a:solidFill>
                <a:latin typeface="Arial"/>
              </a:rPr>
              <a:t>No pump-and-dump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4288536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50" b="0" i="0">
                <a:solidFill>
                  <a:srgbClr val="9AA69A"/>
                </a:solidFill>
                <a:latin typeface="Arial"/>
              </a:rPr>
              <a:t>Nothing to list, nothing to dump. Growth is tied to jobs, not a chart.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35040" y="4937760"/>
            <a:ext cx="5303520" cy="1097280"/>
          </a:xfrm>
          <a:prstGeom prst="roundRect">
            <a:avLst>
              <a:gd name="adj" fmla="val 8000"/>
            </a:avLst>
          </a:prstGeom>
          <a:solidFill>
            <a:srgbClr val="1116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55080" y="512064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1" i="0">
                <a:solidFill>
                  <a:srgbClr val="FFFFFF"/>
                </a:solidFill>
                <a:latin typeface="Arial"/>
              </a:rPr>
              <a:t>Non-dilutive path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5522976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50" b="0" i="0">
                <a:solidFill>
                  <a:srgbClr val="9AA69A"/>
                </a:solidFill>
                <a:latin typeface="Arial"/>
              </a:rPr>
              <a:t>Grants, hackathon prizes and fee revenue fund the network - not VC rounds.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38560" y="6419088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333B33"/>
                </a:solidFill>
                <a:latin typeface="Courier New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42162" y="759866"/>
            <a:ext cx="441655" cy="161300"/>
          </a:xfrm>
          <a:prstGeom prst="roundRect">
            <a:avLst/>
          </a:prstGeom>
          <a:solidFill>
            <a:srgbClr val="CCF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30640" y="709940"/>
            <a:ext cx="211226" cy="211226"/>
          </a:xfrm>
          <a:prstGeom prst="ellipse">
            <a:avLst/>
          </a:prstGeom>
          <a:solidFill>
            <a:srgbClr val="CCF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38174" y="594725"/>
            <a:ext cx="276514" cy="276514"/>
          </a:xfrm>
          <a:prstGeom prst="ellipse">
            <a:avLst/>
          </a:prstGeom>
          <a:solidFill>
            <a:srgbClr val="CCF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99474" y="702259"/>
            <a:ext cx="199704" cy="199704"/>
          </a:xfrm>
          <a:prstGeom prst="ellipse">
            <a:avLst/>
          </a:prstGeom>
          <a:solidFill>
            <a:srgbClr val="CCF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81328" y="566928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 i="0">
                <a:solidFill>
                  <a:srgbClr val="CCFF33"/>
                </a:solidFill>
                <a:latin typeface="Courier New"/>
              </a:rPr>
              <a:t>ROADMAP  &amp;  ASK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96012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4000" b="1" i="0">
                <a:solidFill>
                  <a:srgbClr val="FFFFFF"/>
                </a:solidFill>
                <a:latin typeface="Arial"/>
              </a:rPr>
              <a:t>Where we go next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331720"/>
            <a:ext cx="3401568" cy="1965960"/>
          </a:xfrm>
          <a:prstGeom prst="roundRect">
            <a:avLst>
              <a:gd name="adj" fmla="val 8000"/>
            </a:avLst>
          </a:prstGeom>
          <a:solidFill>
            <a:srgbClr val="181E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578608"/>
            <a:ext cx="285292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 i="0">
                <a:solidFill>
                  <a:srgbClr val="CCFF33"/>
                </a:solidFill>
                <a:latin typeface="Courier New"/>
              </a:rPr>
              <a:t>NOW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063240"/>
            <a:ext cx="2852928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 i="0">
                <a:solidFill>
                  <a:srgbClr val="9AA69A"/>
                </a:solidFill>
                <a:latin typeface="Arial"/>
              </a:rPr>
              <a:t>P2P jobs live · WGSL runtime · USDC escrow on devnet · SDKs shipped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79976" y="2331720"/>
            <a:ext cx="3401568" cy="1965960"/>
          </a:xfrm>
          <a:prstGeom prst="roundRect">
            <a:avLst>
              <a:gd name="adj" fmla="val 8000"/>
            </a:avLst>
          </a:prstGeom>
          <a:solidFill>
            <a:srgbClr val="181E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54296" y="2578608"/>
            <a:ext cx="285292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Courier New"/>
              </a:rPr>
              <a:t>NEXT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54296" y="3063240"/>
            <a:ext cx="2852928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 i="0">
                <a:solidFill>
                  <a:srgbClr val="9AA69A"/>
                </a:solidFill>
                <a:latin typeface="Arial"/>
              </a:rPr>
              <a:t>Real CUDA / OpenCL kernels · provider registry + reputation · mainnet escrow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36992" y="2331720"/>
            <a:ext cx="3401568" cy="1965960"/>
          </a:xfrm>
          <a:prstGeom prst="roundRect">
            <a:avLst>
              <a:gd name="adj" fmla="val 8000"/>
            </a:avLst>
          </a:prstGeom>
          <a:solidFill>
            <a:srgbClr val="181E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11312" y="2578608"/>
            <a:ext cx="285292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 i="0">
                <a:solidFill>
                  <a:srgbClr val="9AA69A"/>
                </a:solidFill>
                <a:latin typeface="Courier New"/>
              </a:rPr>
              <a:t>LATER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11312" y="3063240"/>
            <a:ext cx="2852928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 i="0">
                <a:solidFill>
                  <a:srgbClr val="9AA69A"/>
                </a:solidFill>
                <a:latin typeface="Arial"/>
              </a:rPr>
              <a:t>ZK verification of execution · marketplace of runtimes · agent-native billing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4617720"/>
            <a:ext cx="10515600" cy="1417320"/>
          </a:xfrm>
          <a:prstGeom prst="roundRect">
            <a:avLst>
              <a:gd name="adj" fmla="val 8000"/>
            </a:avLst>
          </a:prstGeom>
          <a:solidFill>
            <a:srgbClr val="111611"/>
          </a:solidFill>
          <a:ln w="15875">
            <a:solidFill>
              <a:srgbClr val="CCFF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43000" y="4828032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1" i="0">
                <a:solidFill>
                  <a:srgbClr val="CCFF33"/>
                </a:solidFill>
                <a:latin typeface="Arial"/>
              </a:rPr>
              <a:t>The ask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5285232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600" b="0" i="0">
                <a:solidFill>
                  <a:srgbClr val="FFFFFF"/>
                </a:solidFill>
                <a:latin typeface="Arial"/>
              </a:rPr>
              <a:t>A grant + a handful of pilot providers to seed the network. </a:t>
            </a:r>
            <a:r>
              <a:rPr sz="1600" b="0" i="0">
                <a:solidFill>
                  <a:srgbClr val="9AA69A"/>
                </a:solidFill>
                <a:latin typeface="Arial"/>
              </a:rPr>
              <a:t>No token, no VC round - prizes, grants and the 4% fee carry it.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635508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0" i="0">
                <a:solidFill>
                  <a:srgbClr val="CCFF33"/>
                </a:solidFill>
                <a:latin typeface="Courier New"/>
              </a:rPr>
              <a:t>github.com/w3-surfer/cloudiy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38560" y="6419088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333B33"/>
                </a:solidFill>
                <a:latin typeface="Courier New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42162" y="759866"/>
            <a:ext cx="441655" cy="161300"/>
          </a:xfrm>
          <a:prstGeom prst="roundRect">
            <a:avLst/>
          </a:prstGeom>
          <a:solidFill>
            <a:srgbClr val="CCF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30640" y="709940"/>
            <a:ext cx="211226" cy="211226"/>
          </a:xfrm>
          <a:prstGeom prst="ellipse">
            <a:avLst/>
          </a:prstGeom>
          <a:solidFill>
            <a:srgbClr val="CCF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38174" y="594725"/>
            <a:ext cx="276514" cy="276514"/>
          </a:xfrm>
          <a:prstGeom prst="ellipse">
            <a:avLst/>
          </a:prstGeom>
          <a:solidFill>
            <a:srgbClr val="CCF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99474" y="702259"/>
            <a:ext cx="199704" cy="199704"/>
          </a:xfrm>
          <a:prstGeom prst="ellipse">
            <a:avLst/>
          </a:prstGeom>
          <a:solidFill>
            <a:srgbClr val="CCF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81328" y="566928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 i="0">
                <a:solidFill>
                  <a:srgbClr val="CCFF33"/>
                </a:solidFill>
                <a:latin typeface="Courier New"/>
              </a:rPr>
              <a:t>APPENDIX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96012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4000" b="1" i="0">
                <a:solidFill>
                  <a:srgbClr val="FFFFFF"/>
                </a:solidFill>
                <a:latin typeface="Arial"/>
              </a:rPr>
              <a:t>Live demo - 2 minutes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331720"/>
            <a:ext cx="10515600" cy="768096"/>
          </a:xfrm>
          <a:prstGeom prst="roundRect">
            <a:avLst>
              <a:gd name="adj" fmla="val 8000"/>
            </a:avLst>
          </a:prstGeom>
          <a:solidFill>
            <a:srgbClr val="1116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551176"/>
            <a:ext cx="868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CCFF33"/>
                </a:solidFill>
                <a:latin typeface="Courier New"/>
              </a:rPr>
              <a:t>00:00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0" y="2450591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0" i="0">
                <a:solidFill>
                  <a:srgbClr val="FFFFFF"/>
                </a:solidFill>
                <a:latin typeface="Courier New"/>
              </a:rPr>
              <a:t>cloudiy share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0" y="2761487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50" b="0" i="0">
                <a:solidFill>
                  <a:srgbClr val="9AA69A"/>
                </a:solidFill>
                <a:latin typeface="Arial"/>
              </a:rPr>
              <a:t>On machine A. Prints a Node ID + access code. P2P is up - no ports opened.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3191256"/>
            <a:ext cx="10515600" cy="768096"/>
          </a:xfrm>
          <a:prstGeom prst="roundRect">
            <a:avLst>
              <a:gd name="adj" fmla="val 8000"/>
            </a:avLst>
          </a:prstGeom>
          <a:solidFill>
            <a:srgbClr val="181E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3410711"/>
            <a:ext cx="868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CCFF33"/>
                </a:solidFill>
                <a:latin typeface="Courier New"/>
              </a:rPr>
              <a:t>00:25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0" y="3310127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0" i="0">
                <a:solidFill>
                  <a:srgbClr val="FFFFFF"/>
                </a:solidFill>
                <a:latin typeface="Courier New"/>
              </a:rPr>
              <a:t>cloudiy run --to &lt;NodeID&gt; --kernel vector_add --data "1,2,3;4,5,6"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0" y="3621024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50" b="0" i="0">
                <a:solidFill>
                  <a:srgbClr val="9AA69A"/>
                </a:solidFill>
                <a:latin typeface="Arial"/>
              </a:rPr>
              <a:t>On machine B. Returns 5,7,9 - signed by the provider's key.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4050791"/>
            <a:ext cx="10515600" cy="768096"/>
          </a:xfrm>
          <a:prstGeom prst="roundRect">
            <a:avLst>
              <a:gd name="adj" fmla="val 8000"/>
            </a:avLst>
          </a:prstGeom>
          <a:solidFill>
            <a:srgbClr val="1116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4270248"/>
            <a:ext cx="868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CCFF33"/>
                </a:solidFill>
                <a:latin typeface="Courier New"/>
              </a:rPr>
              <a:t>01:00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0" y="4169663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0" i="0">
                <a:solidFill>
                  <a:srgbClr val="FFFFFF"/>
                </a:solidFill>
                <a:latin typeface="Courier New"/>
              </a:rPr>
              <a:t>run without payment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1680" y="4480559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50" b="0" i="0">
                <a:solidFill>
                  <a:srgbClr val="9AA69A"/>
                </a:solidFill>
                <a:latin typeface="Arial"/>
              </a:rPr>
              <a:t>Show the 402 quote in USDC, then re-run with --x402-demo and watch it clear.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" y="4910327"/>
            <a:ext cx="10515600" cy="768096"/>
          </a:xfrm>
          <a:prstGeom prst="roundRect">
            <a:avLst>
              <a:gd name="adj" fmla="val 8000"/>
            </a:avLst>
          </a:prstGeom>
          <a:solidFill>
            <a:srgbClr val="181E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51560" y="5129783"/>
            <a:ext cx="868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CCFF33"/>
                </a:solidFill>
                <a:latin typeface="Courier New"/>
              </a:rPr>
              <a:t>01:30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0" y="5029199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0" i="0">
                <a:solidFill>
                  <a:srgbClr val="FFFFFF"/>
                </a:solidFill>
                <a:latin typeface="Courier New"/>
              </a:rPr>
              <a:t>agent tool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11680" y="5340095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50" b="0" i="0">
                <a:solidFill>
                  <a:srgbClr val="9AA69A"/>
                </a:solidFill>
                <a:latin typeface="Arial"/>
              </a:rPr>
              <a:t>Drop as_tool_schema() into an LLM; the agent calls Cloudiy and buys compute itself.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" y="5769863"/>
            <a:ext cx="10515600" cy="768096"/>
          </a:xfrm>
          <a:prstGeom prst="roundRect">
            <a:avLst>
              <a:gd name="adj" fmla="val 8000"/>
            </a:avLst>
          </a:prstGeom>
          <a:solidFill>
            <a:srgbClr val="1116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51560" y="5989319"/>
            <a:ext cx="868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CCFF33"/>
                </a:solidFill>
                <a:latin typeface="Courier New"/>
              </a:rPr>
              <a:t>01:50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11680" y="5888735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0" i="0">
                <a:solidFill>
                  <a:srgbClr val="FFFFFF"/>
                </a:solidFill>
                <a:latin typeface="Courier New"/>
              </a:rPr>
              <a:t>Solana explorer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011680" y="6199631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50" b="0" i="0">
                <a:solidFill>
                  <a:srgbClr val="9AA69A"/>
                </a:solidFill>
                <a:latin typeface="Arial"/>
              </a:rPr>
              <a:t>Show the escrow transaction on devnet - real money gated on a real result.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19088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333B33"/>
                </a:solidFill>
                <a:latin typeface="Courier New"/>
              </a:rP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